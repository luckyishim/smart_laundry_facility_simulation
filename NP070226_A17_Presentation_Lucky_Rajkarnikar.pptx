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2021" y="-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ky Rajkarnikar" userId="84250e2e48d8b822" providerId="LiveId" clId="{9E012495-1B59-4452-B717-2315DF1EDB58}"/>
    <pc:docChg chg="undo custSel modSld">
      <pc:chgData name="Lucky Rajkarnikar" userId="84250e2e48d8b822" providerId="LiveId" clId="{9E012495-1B59-4452-B717-2315DF1EDB58}" dt="2026-09-26T07:58:46.180" v="6" actId="14100"/>
      <pc:docMkLst>
        <pc:docMk/>
      </pc:docMkLst>
      <pc:sldChg chg="addSp modSp mod">
        <pc:chgData name="Lucky Rajkarnikar" userId="84250e2e48d8b822" providerId="LiveId" clId="{9E012495-1B59-4452-B717-2315DF1EDB58}" dt="2026-09-26T07:58:46.180" v="6" actId="14100"/>
        <pc:sldMkLst>
          <pc:docMk/>
          <pc:sldMk cId="0" sldId="258"/>
        </pc:sldMkLst>
        <pc:spChg chg="mod">
          <ac:chgData name="Lucky Rajkarnikar" userId="84250e2e48d8b822" providerId="LiveId" clId="{9E012495-1B59-4452-B717-2315DF1EDB58}" dt="2026-09-26T07:58:14.023" v="0" actId="14100"/>
          <ac:spMkLst>
            <pc:docMk/>
            <pc:sldMk cId="0" sldId="258"/>
            <ac:spMk id="32" creationId="{00000000-0000-0000-0000-000000000000}"/>
          </ac:spMkLst>
        </pc:spChg>
        <pc:spChg chg="mod">
          <ac:chgData name="Lucky Rajkarnikar" userId="84250e2e48d8b822" providerId="LiveId" clId="{9E012495-1B59-4452-B717-2315DF1EDB58}" dt="2026-09-26T07:58:27.986" v="4" actId="164"/>
          <ac:spMkLst>
            <pc:docMk/>
            <pc:sldMk cId="0" sldId="258"/>
            <ac:spMk id="33" creationId="{00000000-0000-0000-0000-000000000000}"/>
          </ac:spMkLst>
        </pc:spChg>
        <pc:spChg chg="mod">
          <ac:chgData name="Lucky Rajkarnikar" userId="84250e2e48d8b822" providerId="LiveId" clId="{9E012495-1B59-4452-B717-2315DF1EDB58}" dt="2026-09-26T07:58:27.986" v="4" actId="164"/>
          <ac:spMkLst>
            <pc:docMk/>
            <pc:sldMk cId="0" sldId="258"/>
            <ac:spMk id="34" creationId="{00000000-0000-0000-0000-000000000000}"/>
          </ac:spMkLst>
        </pc:spChg>
        <pc:spChg chg="mod">
          <ac:chgData name="Lucky Rajkarnikar" userId="84250e2e48d8b822" providerId="LiveId" clId="{9E012495-1B59-4452-B717-2315DF1EDB58}" dt="2026-09-26T07:58:27.986" v="4" actId="164"/>
          <ac:spMkLst>
            <pc:docMk/>
            <pc:sldMk cId="0" sldId="258"/>
            <ac:spMk id="35" creationId="{00000000-0000-0000-0000-000000000000}"/>
          </ac:spMkLst>
        </pc:spChg>
        <pc:spChg chg="mod">
          <ac:chgData name="Lucky Rajkarnikar" userId="84250e2e48d8b822" providerId="LiveId" clId="{9E012495-1B59-4452-B717-2315DF1EDB58}" dt="2026-09-26T07:58:27.986" v="4" actId="164"/>
          <ac:spMkLst>
            <pc:docMk/>
            <pc:sldMk cId="0" sldId="258"/>
            <ac:spMk id="36" creationId="{00000000-0000-0000-0000-000000000000}"/>
          </ac:spMkLst>
        </pc:spChg>
        <pc:spChg chg="mod">
          <ac:chgData name="Lucky Rajkarnikar" userId="84250e2e48d8b822" providerId="LiveId" clId="{9E012495-1B59-4452-B717-2315DF1EDB58}" dt="2026-09-26T07:58:27.986" v="4" actId="164"/>
          <ac:spMkLst>
            <pc:docMk/>
            <pc:sldMk cId="0" sldId="258"/>
            <ac:spMk id="37" creationId="{00000000-0000-0000-0000-000000000000}"/>
          </ac:spMkLst>
        </pc:spChg>
        <pc:grpChg chg="add mod">
          <ac:chgData name="Lucky Rajkarnikar" userId="84250e2e48d8b822" providerId="LiveId" clId="{9E012495-1B59-4452-B717-2315DF1EDB58}" dt="2026-09-26T07:58:38.949" v="5" actId="14100"/>
          <ac:grpSpMkLst>
            <pc:docMk/>
            <pc:sldMk cId="0" sldId="258"/>
            <ac:grpSpMk id="42" creationId="{92F472B3-3232-3283-F029-7A14794C521F}"/>
          </ac:grpSpMkLst>
        </pc:grpChg>
        <pc:picChg chg="mod">
          <ac:chgData name="Lucky Rajkarnikar" userId="84250e2e48d8b822" providerId="LiveId" clId="{9E012495-1B59-4452-B717-2315DF1EDB58}" dt="2026-09-26T07:58:46.180" v="6" actId="14100"/>
          <ac:picMkLst>
            <pc:docMk/>
            <pc:sldMk cId="0" sldId="258"/>
            <ac:picMk id="3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265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34363C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1188720"/>
            <a:ext cx="3931920" cy="3931920"/>
          </a:xfrm>
          <a:prstGeom prst="ellipse">
            <a:avLst/>
          </a:prstGeom>
          <a:ln w="15875">
            <a:solidFill>
              <a:srgbClr val="9C5A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ln w="15875">
            <a:solidFill>
              <a:srgbClr val="4548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6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PROGRAMMING  ·  CT074-3-2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97840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Laundry Facility</a:t>
            </a:r>
            <a:endParaRPr lang="en-US" sz="44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22960" y="3931920"/>
            <a:ext cx="2011680" cy="0"/>
          </a:xfrm>
          <a:prstGeom prst="line">
            <a:avLst/>
          </a:prstGeom>
          <a:noFill/>
          <a:ln w="28575">
            <a:solidFill>
              <a:srgbClr val="C67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14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safe concurrent access to 6 washers, 4 dryers, and 2 payment kiosks across 50 independent customer threads.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782312"/>
            <a:ext cx="585216" cy="585216"/>
          </a:xfrm>
          <a:prstGeom prst="ellipse">
            <a:avLst/>
          </a:prstGeom>
          <a:solidFill>
            <a:srgbClr val="34363C"/>
          </a:solidFill>
          <a:ln/>
        </p:spPr>
      </p:sp>
      <p:pic>
        <p:nvPicPr>
          <p:cNvPr id="10" name="Image 0" descr="/home/claude/assets/icons/was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12" y="4922764"/>
            <a:ext cx="304312" cy="3043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5440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CA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Washers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40280" y="4782312"/>
            <a:ext cx="585216" cy="585216"/>
          </a:xfrm>
          <a:prstGeom prst="ellipse">
            <a:avLst/>
          </a:prstGeom>
          <a:solidFill>
            <a:srgbClr val="34363C"/>
          </a:solidFill>
          <a:ln/>
        </p:spPr>
      </p:sp>
      <p:pic>
        <p:nvPicPr>
          <p:cNvPr id="13" name="Image 1" descr="/home/claude/assets/icons/dr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0732" y="4922764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03120" y="5440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CA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Dryers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57600" y="4782312"/>
            <a:ext cx="585216" cy="585216"/>
          </a:xfrm>
          <a:prstGeom prst="ellipse">
            <a:avLst/>
          </a:prstGeom>
          <a:solidFill>
            <a:srgbClr val="34363C"/>
          </a:solidFill>
          <a:ln/>
        </p:spPr>
      </p:sp>
      <p:pic>
        <p:nvPicPr>
          <p:cNvPr id="16" name="Image 2" descr="/home/claude/assets/icons/kio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8052" y="4922764"/>
            <a:ext cx="304312" cy="304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20440" y="5440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CA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Kiosks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074920" y="4782312"/>
            <a:ext cx="585216" cy="585216"/>
          </a:xfrm>
          <a:prstGeom prst="ellipse">
            <a:avLst/>
          </a:prstGeom>
          <a:solidFill>
            <a:srgbClr val="34363C"/>
          </a:solidFill>
          <a:ln/>
        </p:spPr>
      </p:sp>
      <p:pic>
        <p:nvPicPr>
          <p:cNvPr id="19" name="Image 3" descr="/home/claude/assets/icons/custom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5372" y="4922764"/>
            <a:ext cx="304312" cy="3043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37760" y="5440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CA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Customers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Rajkarnikar   ·   NP070226   ·   Techspire College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C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 &amp;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facility built for contention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806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self-service laundromat with only 12 total machines must serve 50 arriving customers — deliberately far more demand than supply.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 is modelled as an independent thread that must safely acquire a washer, a dryer, and a kiosk in turn without corrupting shared state.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must distribute machines fairly — never handing the same washer to two customers at once, and never skewing the recorded statistics.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903720" y="1737360"/>
            <a:ext cx="2203704" cy="1952244"/>
          </a:xfrm>
          <a:prstGeom prst="roundRect">
            <a:avLst>
              <a:gd name="adj" fmla="val 3747"/>
            </a:avLst>
          </a:prstGeom>
          <a:solidFill>
            <a:srgbClr val="F3F1ED"/>
          </a:solidFill>
          <a:ln w="12700">
            <a:solidFill>
              <a:srgbClr val="E1DE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05472" y="2039112"/>
            <a:ext cx="530352" cy="530352"/>
          </a:xfrm>
          <a:prstGeom prst="ellipse">
            <a:avLst/>
          </a:prstGeom>
          <a:solidFill>
            <a:srgbClr val="C6752A"/>
          </a:solidFill>
          <a:ln/>
        </p:spPr>
      </p:sp>
      <p:pic>
        <p:nvPicPr>
          <p:cNvPr id="7" name="Image 0" descr="/home/claude/assets/icons/was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756" y="2166396"/>
            <a:ext cx="275783" cy="2757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09560" y="1920240"/>
            <a:ext cx="1014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178040" y="2775204"/>
            <a:ext cx="16550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363456" y="1737360"/>
            <a:ext cx="2203704" cy="1952244"/>
          </a:xfrm>
          <a:prstGeom prst="roundRect">
            <a:avLst>
              <a:gd name="adj" fmla="val 3747"/>
            </a:avLst>
          </a:prstGeom>
          <a:solidFill>
            <a:srgbClr val="F3F1ED"/>
          </a:solidFill>
          <a:ln w="12700">
            <a:solidFill>
              <a:srgbClr val="E1DE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65208" y="2039112"/>
            <a:ext cx="530352" cy="530352"/>
          </a:xfrm>
          <a:prstGeom prst="ellipse">
            <a:avLst/>
          </a:prstGeom>
          <a:solidFill>
            <a:srgbClr val="8B3F3F"/>
          </a:solidFill>
          <a:ln/>
        </p:spPr>
      </p:sp>
      <p:pic>
        <p:nvPicPr>
          <p:cNvPr id="12" name="Image 1" descr="/home/claude/assets/icons/dr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2492" y="2166396"/>
            <a:ext cx="275783" cy="2757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369296" y="1920240"/>
            <a:ext cx="1014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9637776" y="2775204"/>
            <a:ext cx="16550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903720" y="3945636"/>
            <a:ext cx="2203704" cy="1952244"/>
          </a:xfrm>
          <a:prstGeom prst="roundRect">
            <a:avLst>
              <a:gd name="adj" fmla="val 3747"/>
            </a:avLst>
          </a:prstGeom>
          <a:solidFill>
            <a:srgbClr val="F3F1ED"/>
          </a:solidFill>
          <a:ln w="12700">
            <a:solidFill>
              <a:srgbClr val="E1DE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05472" y="4247388"/>
            <a:ext cx="530352" cy="530352"/>
          </a:xfrm>
          <a:prstGeom prst="ellipse">
            <a:avLst/>
          </a:prstGeom>
          <a:solidFill>
            <a:srgbClr val="C6752A"/>
          </a:solidFill>
          <a:ln/>
        </p:spPr>
      </p:sp>
      <p:pic>
        <p:nvPicPr>
          <p:cNvPr id="17" name="Image 2" descr="/home/claude/assets/icons/kio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756" y="4374672"/>
            <a:ext cx="275783" cy="27578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09560" y="4128516"/>
            <a:ext cx="1014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7178040" y="4983480"/>
            <a:ext cx="16550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363456" y="3945636"/>
            <a:ext cx="2203704" cy="1952244"/>
          </a:xfrm>
          <a:prstGeom prst="roundRect">
            <a:avLst>
              <a:gd name="adj" fmla="val 3747"/>
            </a:avLst>
          </a:prstGeom>
          <a:solidFill>
            <a:srgbClr val="F3F1ED"/>
          </a:solidFill>
          <a:ln w="12700">
            <a:solidFill>
              <a:srgbClr val="E1DED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665208" y="4247388"/>
            <a:ext cx="530352" cy="530352"/>
          </a:xfrm>
          <a:prstGeom prst="ellipse">
            <a:avLst/>
          </a:prstGeom>
          <a:solidFill>
            <a:srgbClr val="8B3F3F"/>
          </a:solidFill>
          <a:ln/>
        </p:spPr>
      </p:sp>
      <p:pic>
        <p:nvPicPr>
          <p:cNvPr id="22" name="Image 3" descr="/home/claude/assets/icons/custom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2492" y="4374672"/>
            <a:ext cx="275783" cy="27578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369296" y="4128516"/>
            <a:ext cx="1014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400" dirty="0"/>
          </a:p>
        </p:txBody>
      </p:sp>
      <p:sp>
        <p:nvSpPr>
          <p:cNvPr id="24" name="Text 18"/>
          <p:cNvSpPr/>
          <p:nvPr/>
        </p:nvSpPr>
        <p:spPr>
          <a:xfrm>
            <a:off x="9637776" y="4983480"/>
            <a:ext cx="16550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LAUNDRY FACILITY SIMULATION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C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 &amp;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classes, one clean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" cy="512064"/>
          </a:xfrm>
          <a:prstGeom prst="ellipse">
            <a:avLst/>
          </a:prstGeom>
          <a:solidFill>
            <a:srgbClr val="C6752A"/>
          </a:solidFill>
          <a:ln/>
        </p:spPr>
      </p:sp>
      <p:pic>
        <p:nvPicPr>
          <p:cNvPr id="5" name="Image 0" descr="/home/claude/assets/icons/ge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1814535"/>
            <a:ext cx="266273" cy="266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65506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61872" y="194767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pool, staggers arrivals, awaits the latch.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258568"/>
            <a:ext cx="512064" cy="512064"/>
          </a:xfrm>
          <a:prstGeom prst="ellipse">
            <a:avLst/>
          </a:prstGeom>
          <a:solidFill>
            <a:srgbClr val="8B3F3F"/>
          </a:solidFill>
          <a:ln/>
        </p:spPr>
      </p:sp>
      <p:pic>
        <p:nvPicPr>
          <p:cNvPr id="9" name="Image 1" descr="/home/claude/assets/icons/custom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75" y="2381463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22219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61872" y="25146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carrying one customer through wash → dry → pay.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2825496"/>
            <a:ext cx="512064" cy="512064"/>
          </a:xfrm>
          <a:prstGeom prst="ellipse">
            <a:avLst/>
          </a:prstGeom>
          <a:solidFill>
            <a:srgbClr val="C6752A"/>
          </a:solidFill>
          <a:ln/>
        </p:spPr>
      </p:sp>
      <p:pic>
        <p:nvPicPr>
          <p:cNvPr id="13" name="Image 2" descr="/home/claude/assets/icons/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2948391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27889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LaundryFacility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61872" y="308152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resource monitor: fair semaphores + locked ID claims.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3392424"/>
            <a:ext cx="512064" cy="512064"/>
          </a:xfrm>
          <a:prstGeom prst="ellipse">
            <a:avLst/>
          </a:prstGeom>
          <a:solidFill>
            <a:srgbClr val="8B3F3F"/>
          </a:solidFill>
          <a:ln/>
        </p:spPr>
      </p:sp>
      <p:pic>
        <p:nvPicPr>
          <p:cNvPr id="17" name="Image 3" descr="/home/claude/assets/icons/ch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75" y="3515319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61872" y="335584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SimulationMetrics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261872" y="364845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Lock-free statistics via Atomic counters and CAS.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3959352"/>
            <a:ext cx="512064" cy="512064"/>
          </a:xfrm>
          <a:prstGeom prst="ellipse">
            <a:avLst/>
          </a:prstGeom>
          <a:solidFill>
            <a:srgbClr val="C6752A"/>
          </a:solidFill>
          <a:ln/>
        </p:spPr>
      </p:sp>
      <p:pic>
        <p:nvPicPr>
          <p:cNvPr id="21" name="Image 4" descr="/home/claude/assets/icons/triang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975" y="4082247"/>
            <a:ext cx="266273" cy="26627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61872" y="392277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FailureSimulator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261872" y="421538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5% washer / kiosk failure events.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40080" y="4526280"/>
            <a:ext cx="512064" cy="512064"/>
          </a:xfrm>
          <a:prstGeom prst="ellipse">
            <a:avLst/>
          </a:prstGeom>
          <a:solidFill>
            <a:srgbClr val="8B3F3F"/>
          </a:solidFill>
          <a:ln/>
        </p:spPr>
      </p:sp>
      <p:pic>
        <p:nvPicPr>
          <p:cNvPr id="25" name="Image 5" descr="/home/claude/assets/icons/termin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975" y="4649175"/>
            <a:ext cx="266273" cy="26627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61872" y="448970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LaundryLogger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1261872" y="478231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Synchronized, timestamped logging; notifies GUI listeners.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40080" y="5093208"/>
            <a:ext cx="512064" cy="512064"/>
          </a:xfrm>
          <a:prstGeom prst="ellipse">
            <a:avLst/>
          </a:prstGeom>
          <a:solidFill>
            <a:srgbClr val="C6752A"/>
          </a:solidFill>
          <a:ln/>
        </p:spPr>
      </p:sp>
      <p:pic>
        <p:nvPicPr>
          <p:cNvPr id="29" name="Image 6" descr="/home/claude/assets/icons/displa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975" y="5216103"/>
            <a:ext cx="266273" cy="26627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261872" y="50566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LaundryGUI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1261872" y="53492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dashboard confined to the Event Dispatch Thread.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7151077" y="777240"/>
            <a:ext cx="4537698" cy="544068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1DED7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2F472B3-3232-3283-F029-7A14794C521F}"/>
              </a:ext>
            </a:extLst>
          </p:cNvPr>
          <p:cNvGrpSpPr/>
          <p:nvPr/>
        </p:nvGrpSpPr>
        <p:grpSpPr>
          <a:xfrm>
            <a:off x="7151077" y="777240"/>
            <a:ext cx="4537698" cy="237744"/>
            <a:chOff x="8442655" y="777240"/>
            <a:chExt cx="3246120" cy="237744"/>
          </a:xfrm>
        </p:grpSpPr>
        <p:sp>
          <p:nvSpPr>
            <p:cNvPr id="33" name="Shape 24"/>
            <p:cNvSpPr/>
            <p:nvPr/>
          </p:nvSpPr>
          <p:spPr>
            <a:xfrm>
              <a:off x="8442655" y="777240"/>
              <a:ext cx="3246120" cy="237744"/>
            </a:xfrm>
            <a:prstGeom prst="roundRect">
              <a:avLst>
                <a:gd name="adj" fmla="val 34615"/>
              </a:avLst>
            </a:prstGeom>
            <a:solidFill>
              <a:srgbClr val="EDEBE6"/>
            </a:solidFill>
            <a:ln/>
          </p:spPr>
        </p:sp>
        <p:sp>
          <p:nvSpPr>
            <p:cNvPr id="34" name="Shape 25"/>
            <p:cNvSpPr/>
            <p:nvPr/>
          </p:nvSpPr>
          <p:spPr>
            <a:xfrm>
              <a:off x="8442655" y="896112"/>
              <a:ext cx="3246120" cy="118872"/>
            </a:xfrm>
            <a:prstGeom prst="rect">
              <a:avLst/>
            </a:prstGeom>
            <a:solidFill>
              <a:srgbClr val="EDEBE6"/>
            </a:solidFill>
            <a:ln/>
          </p:spPr>
        </p:sp>
        <p:sp>
          <p:nvSpPr>
            <p:cNvPr id="35" name="Shape 26"/>
            <p:cNvSpPr/>
            <p:nvPr/>
          </p:nvSpPr>
          <p:spPr>
            <a:xfrm>
              <a:off x="8570671" y="854964"/>
              <a:ext cx="82296" cy="82296"/>
            </a:xfrm>
            <a:prstGeom prst="ellipse">
              <a:avLst/>
            </a:prstGeom>
            <a:solidFill>
              <a:srgbClr val="D96A5C"/>
            </a:solidFill>
            <a:ln/>
          </p:spPr>
        </p:sp>
        <p:sp>
          <p:nvSpPr>
            <p:cNvPr id="36" name="Shape 27"/>
            <p:cNvSpPr/>
            <p:nvPr/>
          </p:nvSpPr>
          <p:spPr>
            <a:xfrm>
              <a:off x="8744407" y="854964"/>
              <a:ext cx="82296" cy="82296"/>
            </a:xfrm>
            <a:prstGeom prst="ellipse">
              <a:avLst/>
            </a:prstGeom>
            <a:solidFill>
              <a:srgbClr val="E3B23C"/>
            </a:solidFill>
            <a:ln/>
          </p:spPr>
        </p:sp>
        <p:sp>
          <p:nvSpPr>
            <p:cNvPr id="37" name="Shape 28"/>
            <p:cNvSpPr/>
            <p:nvPr/>
          </p:nvSpPr>
          <p:spPr>
            <a:xfrm>
              <a:off x="8918143" y="854964"/>
              <a:ext cx="82296" cy="82296"/>
            </a:xfrm>
            <a:prstGeom prst="ellipse">
              <a:avLst/>
            </a:prstGeom>
            <a:solidFill>
              <a:srgbClr val="5FAE6E"/>
            </a:solidFill>
            <a:ln/>
          </p:spPr>
        </p:sp>
      </p:grpSp>
      <p:pic>
        <p:nvPicPr>
          <p:cNvPr id="38" name="Image 7" descr="/home/claude/docx_unpacked/word/media/image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0794" y="1080821"/>
            <a:ext cx="3303577" cy="5027371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442655" y="63093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Class relationships &amp; data flow</a:t>
            </a:r>
            <a:endParaRPr lang="en-US" sz="1050" dirty="0"/>
          </a:p>
        </p:txBody>
      </p:sp>
      <p:sp>
        <p:nvSpPr>
          <p:cNvPr id="40" name="Text 3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LAUNDRY FACILITY SIMULATION</a:t>
            </a:r>
            <a:endParaRPr lang="en-US" sz="1000" dirty="0"/>
          </a:p>
        </p:txBody>
      </p:sp>
      <p:sp>
        <p:nvSpPr>
          <p:cNvPr id="41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6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 &amp;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customer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50 customer threads follows the same five-stage journey, with atomic telemetry recorded at each transition.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5168" y="1874520"/>
            <a:ext cx="1088136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assets/pipeline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117" y="2039112"/>
            <a:ext cx="9515462" cy="4105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LAUNDRY FACILITY SIMULATION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C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 &amp;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assumptions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" cy="512064"/>
          </a:xfrm>
          <a:prstGeom prst="ellipse">
            <a:avLst/>
          </a:prstGeom>
          <a:solidFill>
            <a:srgbClr val="C6752A"/>
          </a:solidFill>
          <a:ln/>
        </p:spPr>
      </p:sp>
      <p:pic>
        <p:nvPicPr>
          <p:cNvPr id="5" name="Image 0" descr="/home/claude/assets/icons/custom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1905975"/>
            <a:ext cx="266273" cy="266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74650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thread per customer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61872" y="203911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 runs as one isolated task in an ExecutorService — readable as ordinary sequential code.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081528"/>
            <a:ext cx="512064" cy="512064"/>
          </a:xfrm>
          <a:prstGeom prst="ellipse">
            <a:avLst/>
          </a:prstGeom>
          <a:solidFill>
            <a:srgbClr val="C6752A"/>
          </a:solidFill>
          <a:ln/>
        </p:spPr>
      </p:sp>
      <p:pic>
        <p:nvPicPr>
          <p:cNvPr id="9" name="Image 1" descr="/home/claude/assets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75" y="3204423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304495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customers vs. 12 machines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61872" y="33375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imbalance is deliberate: it guarantees contention and queueing rather than idle, uncontested machines.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379976"/>
            <a:ext cx="512064" cy="512064"/>
          </a:xfrm>
          <a:prstGeom prst="ellipse">
            <a:avLst/>
          </a:prstGeom>
          <a:solidFill>
            <a:srgbClr val="C6752A"/>
          </a:solidFill>
          <a:ln/>
        </p:spPr>
      </p:sp>
      <p:pic>
        <p:nvPicPr>
          <p:cNvPr id="13" name="Image 2" descr="/home/claude/assets/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4502871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434340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random timing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61872" y="46360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 (0–3s) and service times follow the brief exactly — simple, and it still stresses the semaphores.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55080" y="1783080"/>
            <a:ext cx="512064" cy="512064"/>
          </a:xfrm>
          <a:prstGeom prst="ellipse">
            <a:avLst/>
          </a:prstGeom>
          <a:solidFill>
            <a:srgbClr val="8B3F3F"/>
          </a:solidFill>
          <a:ln/>
        </p:spPr>
      </p:sp>
      <p:pic>
        <p:nvPicPr>
          <p:cNvPr id="17" name="Image 3" descr="/home/claude/assets/icons/b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975" y="1905975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76872" y="174650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dual machine occupancy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976872" y="203911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washer is released before a dryer is requested, and a dryer before a kiosk — never two machines at once.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355080" y="3081528"/>
            <a:ext cx="512064" cy="512064"/>
          </a:xfrm>
          <a:prstGeom prst="ellipse">
            <a:avLst/>
          </a:prstGeom>
          <a:solidFill>
            <a:srgbClr val="8B3F3F"/>
          </a:solidFill>
          <a:ln/>
        </p:spPr>
      </p:sp>
      <p:pic>
        <p:nvPicPr>
          <p:cNvPr id="21" name="Image 4" descr="/home/claude/assets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975" y="3204423"/>
            <a:ext cx="266273" cy="26627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76872" y="304495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(FIFO) semaphores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976872" y="33375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semaphore is created fair, so the longest-waiting customer is always served next.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355080" y="4379976"/>
            <a:ext cx="512064" cy="512064"/>
          </a:xfrm>
          <a:prstGeom prst="ellipse">
            <a:avLst/>
          </a:prstGeom>
          <a:solidFill>
            <a:srgbClr val="8B3F3F"/>
          </a:solidFill>
          <a:ln/>
        </p:spPr>
      </p:sp>
      <p:pic>
        <p:nvPicPr>
          <p:cNvPr id="25" name="Image 5" descr="/home/claude/assets/icons/ret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975" y="4502871"/>
            <a:ext cx="266273" cy="26627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76872" y="434340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failure model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6976872" y="46360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independent failure chance per attempt; the same machine is retried rather than abandoned.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LAUNDRY FACILITY SIMULATION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6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SAFETY ASPECTS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resources &amp; the risks they carry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834640" cy="502920"/>
          </a:xfrm>
          <a:prstGeom prst="rect">
            <a:avLst/>
          </a:prstGeom>
          <a:solidFill>
            <a:srgbClr val="34363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91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6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0" y="1691640"/>
            <a:ext cx="4937760" cy="502920"/>
          </a:xfrm>
          <a:prstGeom prst="rect">
            <a:avLst/>
          </a:prstGeom>
          <a:solidFill>
            <a:srgbClr val="34363C"/>
          </a:solidFill>
          <a:ln/>
        </p:spPr>
      </p:sp>
      <p:sp>
        <p:nvSpPr>
          <p:cNvPr id="7" name="Text 5"/>
          <p:cNvSpPr/>
          <p:nvPr/>
        </p:nvSpPr>
        <p:spPr>
          <a:xfrm>
            <a:off x="3639312" y="16916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6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without protection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412480" y="1691640"/>
            <a:ext cx="3108960" cy="502920"/>
          </a:xfrm>
          <a:prstGeom prst="rect">
            <a:avLst/>
          </a:prstGeom>
          <a:solidFill>
            <a:srgbClr val="34363C"/>
          </a:solidFill>
          <a:ln/>
        </p:spPr>
      </p:sp>
      <p:sp>
        <p:nvSpPr>
          <p:cNvPr id="9" name="Text 7"/>
          <p:cNvSpPr/>
          <p:nvPr/>
        </p:nvSpPr>
        <p:spPr>
          <a:xfrm>
            <a:off x="8577072" y="1691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6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used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2834640" cy="914400"/>
          </a:xfrm>
          <a:prstGeom prst="rect">
            <a:avLst/>
          </a:prstGeom>
          <a:solidFill>
            <a:srgbClr val="292A2E"/>
          </a:solidFill>
          <a:ln w="9525">
            <a:solidFill>
              <a:srgbClr val="3A3B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19456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arrays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0" y="2194560"/>
            <a:ext cx="4937760" cy="914400"/>
          </a:xfrm>
          <a:prstGeom prst="rect">
            <a:avLst/>
          </a:prstGeom>
          <a:solidFill>
            <a:srgbClr val="292A2E"/>
          </a:solidFill>
          <a:ln w="9525">
            <a:solidFill>
              <a:srgbClr val="3A3B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2194560"/>
            <a:ext cx="4626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threads read the same machine as free and both claim 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0" y="2194560"/>
            <a:ext cx="3108960" cy="914400"/>
          </a:xfrm>
          <a:prstGeom prst="rect">
            <a:avLst/>
          </a:prstGeom>
          <a:solidFill>
            <a:srgbClr val="292A2E"/>
          </a:solidFill>
          <a:ln w="9525">
            <a:solidFill>
              <a:srgbClr val="3A3B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7072" y="2194560"/>
            <a:ext cx="27980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lock object around every claim / release.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2834640" cy="914400"/>
          </a:xfrm>
          <a:prstGeom prst="rect">
            <a:avLst/>
          </a:prstGeom>
          <a:solidFill>
            <a:srgbClr val="222225"/>
          </a:solidFill>
          <a:ln w="9525">
            <a:solidFill>
              <a:srgbClr val="3A3B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10896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(served, time)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74720" y="3108960"/>
            <a:ext cx="4937760" cy="914400"/>
          </a:xfrm>
          <a:prstGeom prst="rect">
            <a:avLst/>
          </a:prstGeom>
          <a:solidFill>
            <a:srgbClr val="222225"/>
          </a:solidFill>
          <a:ln w="9525">
            <a:solidFill>
              <a:srgbClr val="3A3B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9312" y="3108960"/>
            <a:ext cx="4626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Read-increment-write is not atomic — concurrent updates overwrite each other.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0" y="3108960"/>
            <a:ext cx="3108960" cy="914400"/>
          </a:xfrm>
          <a:prstGeom prst="rect">
            <a:avLst/>
          </a:prstGeom>
          <a:solidFill>
            <a:srgbClr val="222225"/>
          </a:solidFill>
          <a:ln w="9525">
            <a:solidFill>
              <a:srgbClr val="3A3B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77072" y="3108960"/>
            <a:ext cx="27980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AtomicInteger / AtomicLong.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2834640" cy="914400"/>
          </a:xfrm>
          <a:prstGeom prst="rect">
            <a:avLst/>
          </a:prstGeom>
          <a:solidFill>
            <a:srgbClr val="292A2E"/>
          </a:solidFill>
          <a:ln w="9525">
            <a:solidFill>
              <a:srgbClr val="3A3B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02336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marks (max in-use)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74720" y="4023360"/>
            <a:ext cx="4937760" cy="914400"/>
          </a:xfrm>
          <a:prstGeom prst="rect">
            <a:avLst/>
          </a:prstGeom>
          <a:solidFill>
            <a:srgbClr val="292A2E"/>
          </a:solidFill>
          <a:ln w="9525">
            <a:solidFill>
              <a:srgbClr val="3A3B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9312" y="4023360"/>
            <a:ext cx="4626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check-then-set on the maximum can act on a stale value.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412480" y="4023360"/>
            <a:ext cx="3108960" cy="914400"/>
          </a:xfrm>
          <a:prstGeom prst="rect">
            <a:avLst/>
          </a:prstGeom>
          <a:solidFill>
            <a:srgbClr val="292A2E"/>
          </a:solidFill>
          <a:ln w="9525">
            <a:solidFill>
              <a:srgbClr val="3A3B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77072" y="4023360"/>
            <a:ext cx="27980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Compare-and-swap (CAS) retry loop.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937760"/>
            <a:ext cx="2834640" cy="914400"/>
          </a:xfrm>
          <a:prstGeom prst="rect">
            <a:avLst/>
          </a:prstGeom>
          <a:solidFill>
            <a:srgbClr val="222225"/>
          </a:solidFill>
          <a:ln w="9525">
            <a:solidFill>
              <a:srgbClr val="3A3B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493776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System.out logging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74720" y="4937760"/>
            <a:ext cx="4937760" cy="914400"/>
          </a:xfrm>
          <a:prstGeom prst="rect">
            <a:avLst/>
          </a:prstGeom>
          <a:solidFill>
            <a:srgbClr val="222225"/>
          </a:solidFill>
          <a:ln w="9525">
            <a:solidFill>
              <a:srgbClr val="3A3B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9312" y="4937760"/>
            <a:ext cx="4626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and lines from different threads interleave.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412480" y="4937760"/>
            <a:ext cx="3108960" cy="914400"/>
          </a:xfrm>
          <a:prstGeom prst="rect">
            <a:avLst/>
          </a:prstGeom>
          <a:solidFill>
            <a:srgbClr val="222225"/>
          </a:solidFill>
          <a:ln w="9525">
            <a:solidFill>
              <a:srgbClr val="3A3B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77072" y="4937760"/>
            <a:ext cx="27980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synchronized logging method.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LAUNDRY FACILITY SIMULATION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C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SAFETY ASPECTS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Preventing races &amp; interference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949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dedicated locks: washers, dryers, and kiosks each guard their own index array — a single facility-wide lock would force every customer to wait on every other.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java.util.concurrent.atomic classes handle all statistics, backed directly by hardware atomic instructions rather than manual locking.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Permits (via Semaphore) and machine-ID selection are handled as two separate steps — the semaphore enforces the population limit, then a short synchronized block hands out a free index.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19495" y="1920240"/>
            <a:ext cx="56235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DED7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19495" y="1920240"/>
            <a:ext cx="5623560" cy="237744"/>
          </a:xfrm>
          <a:prstGeom prst="roundRect">
            <a:avLst>
              <a:gd name="adj" fmla="val 34615"/>
            </a:avLst>
          </a:prstGeom>
          <a:solidFill>
            <a:srgbClr val="EDEBE6"/>
          </a:solidFill>
          <a:ln/>
        </p:spPr>
      </p:sp>
      <p:sp>
        <p:nvSpPr>
          <p:cNvPr id="7" name="Shape 5"/>
          <p:cNvSpPr/>
          <p:nvPr/>
        </p:nvSpPr>
        <p:spPr>
          <a:xfrm>
            <a:off x="6019495" y="2039112"/>
            <a:ext cx="5623560" cy="118872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8" name="Shape 6"/>
          <p:cNvSpPr/>
          <p:nvPr/>
        </p:nvSpPr>
        <p:spPr>
          <a:xfrm>
            <a:off x="6147511" y="1997964"/>
            <a:ext cx="82296" cy="82296"/>
          </a:xfrm>
          <a:prstGeom prst="ellipse">
            <a:avLst/>
          </a:prstGeom>
          <a:solidFill>
            <a:srgbClr val="D96A5C"/>
          </a:solidFill>
          <a:ln/>
        </p:spPr>
      </p:sp>
      <p:sp>
        <p:nvSpPr>
          <p:cNvPr id="9" name="Shape 7"/>
          <p:cNvSpPr/>
          <p:nvPr/>
        </p:nvSpPr>
        <p:spPr>
          <a:xfrm>
            <a:off x="6321247" y="1997964"/>
            <a:ext cx="82296" cy="8229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0" name="Shape 8"/>
          <p:cNvSpPr/>
          <p:nvPr/>
        </p:nvSpPr>
        <p:spPr>
          <a:xfrm>
            <a:off x="6494983" y="1997964"/>
            <a:ext cx="82296" cy="82296"/>
          </a:xfrm>
          <a:prstGeom prst="ellipse">
            <a:avLst/>
          </a:prstGeom>
          <a:solidFill>
            <a:srgbClr val="5FAE6E"/>
          </a:solidFill>
          <a:ln/>
        </p:spPr>
      </p:sp>
      <p:pic>
        <p:nvPicPr>
          <p:cNvPr id="11" name="Image 0" descr="/home/claude/docx_unpacked/word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286" y="2234794"/>
            <a:ext cx="4923979" cy="18891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19495" y="4325112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Synchronized critical section — machine-ID assignment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LAUNDRY FACILITY SIMULATION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6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SAFETY ASPECTS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hold-and-wait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492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deadlock needs all four conditions at once: mutual exclusion, hold-and-wait, no preemption, circular wait.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 and no-preemption can't be removed — a washing machine can't be shared or interrupted mid-cycle.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design removes hold-and-wait instead: releaseWasher() runs before acquireDryer(), and releaseDryer() before acquireKiosk().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therefore never holds one machine while blocked waiting for another — and deadlock cannot occur without hold-and-wait.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73775" y="2103120"/>
            <a:ext cx="566928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DED7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73775" y="2103120"/>
            <a:ext cx="5669280" cy="237744"/>
          </a:xfrm>
          <a:prstGeom prst="roundRect">
            <a:avLst>
              <a:gd name="adj" fmla="val 34615"/>
            </a:avLst>
          </a:prstGeom>
          <a:solidFill>
            <a:srgbClr val="EDEBE6"/>
          </a:solidFill>
          <a:ln/>
        </p:spPr>
      </p:sp>
      <p:sp>
        <p:nvSpPr>
          <p:cNvPr id="7" name="Shape 5"/>
          <p:cNvSpPr/>
          <p:nvPr/>
        </p:nvSpPr>
        <p:spPr>
          <a:xfrm>
            <a:off x="5973775" y="2221992"/>
            <a:ext cx="5669280" cy="118872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8" name="Shape 6"/>
          <p:cNvSpPr/>
          <p:nvPr/>
        </p:nvSpPr>
        <p:spPr>
          <a:xfrm>
            <a:off x="6101791" y="2180844"/>
            <a:ext cx="82296" cy="82296"/>
          </a:xfrm>
          <a:prstGeom prst="ellipse">
            <a:avLst/>
          </a:prstGeom>
          <a:solidFill>
            <a:srgbClr val="D96A5C"/>
          </a:solidFill>
          <a:ln/>
        </p:spPr>
      </p:sp>
      <p:sp>
        <p:nvSpPr>
          <p:cNvPr id="9" name="Shape 7"/>
          <p:cNvSpPr/>
          <p:nvPr/>
        </p:nvSpPr>
        <p:spPr>
          <a:xfrm>
            <a:off x="6275527" y="2180844"/>
            <a:ext cx="82296" cy="8229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0" name="Shape 8"/>
          <p:cNvSpPr/>
          <p:nvPr/>
        </p:nvSpPr>
        <p:spPr>
          <a:xfrm>
            <a:off x="6449263" y="2180844"/>
            <a:ext cx="82296" cy="82296"/>
          </a:xfrm>
          <a:prstGeom prst="ellipse">
            <a:avLst/>
          </a:prstGeom>
          <a:solidFill>
            <a:srgbClr val="5FAE6E"/>
          </a:solidFill>
          <a:ln/>
        </p:spPr>
      </p:sp>
      <p:pic>
        <p:nvPicPr>
          <p:cNvPr id="11" name="Image 0" descr="/home/claude/docx_unpacked/word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76" y="2417674"/>
            <a:ext cx="4566478" cy="175199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73775" y="437083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C9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Release-before-acquire resource ordering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LAUNDRY FACILITY SIMULATION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C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SAFETY ASPECTS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waits forever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8521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DED7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852160" cy="237744"/>
          </a:xfrm>
          <a:prstGeom prst="roundRect">
            <a:avLst>
              <a:gd name="adj" fmla="val 34615"/>
            </a:avLst>
          </a:prstGeom>
          <a:solidFill>
            <a:srgbClr val="EDEBE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01952"/>
            <a:ext cx="5852160" cy="118872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1860804"/>
            <a:ext cx="82296" cy="82296"/>
          </a:xfrm>
          <a:prstGeom prst="ellipse">
            <a:avLst/>
          </a:prstGeom>
          <a:solidFill>
            <a:srgbClr val="D96A5C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1860804"/>
            <a:ext cx="82296" cy="8229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860804"/>
            <a:ext cx="82296" cy="82296"/>
          </a:xfrm>
          <a:prstGeom prst="ellipse">
            <a:avLst/>
          </a:prstGeom>
          <a:solidFill>
            <a:srgbClr val="5FAE6E"/>
          </a:solidFill>
          <a:ln/>
        </p:spPr>
      </p:sp>
      <p:pic>
        <p:nvPicPr>
          <p:cNvPr id="10" name="Image 0" descr="/home/claude/docx_unpacked/word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302" y="2108606"/>
            <a:ext cx="4897716" cy="5797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90779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Fair semaphore construction — Semaphore(n, true)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3246120"/>
            <a:ext cx="5852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Fair-mode semaphores queue waiting threads in FIFO order, so the longest-waiting customer always receives the next free permit — preventing starvation.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loops never spin: after a failed payment, the customer thread sleeps 2 seconds via TimeUnit.SECONDS.sleep(2), freeing the CPU for other threads and preventing livelock.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903720" y="1783080"/>
            <a:ext cx="4663440" cy="4160520"/>
          </a:xfrm>
          <a:prstGeom prst="roundRect">
            <a:avLst>
              <a:gd name="adj" fmla="val 2198"/>
            </a:avLst>
          </a:prstGeom>
          <a:solidFill>
            <a:srgbClr val="1F2023"/>
          </a:solidFill>
          <a:ln/>
        </p:spPr>
      </p:sp>
      <p:sp>
        <p:nvSpPr>
          <p:cNvPr id="14" name="Shape 11"/>
          <p:cNvSpPr/>
          <p:nvPr/>
        </p:nvSpPr>
        <p:spPr>
          <a:xfrm>
            <a:off x="7338060" y="2217420"/>
            <a:ext cx="685800" cy="685800"/>
          </a:xfrm>
          <a:prstGeom prst="ellipse">
            <a:avLst/>
          </a:prstGeom>
          <a:solidFill>
            <a:srgbClr val="C6752A"/>
          </a:solidFill>
          <a:ln/>
        </p:spPr>
      </p:sp>
      <p:pic>
        <p:nvPicPr>
          <p:cNvPr id="15" name="Image 1" descr="/home/claude/assets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652" y="2382012"/>
            <a:ext cx="356616" cy="3566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92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FIFO fairness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452360" y="3474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customer in the queue → next permit released, every time.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543800" y="4297680"/>
            <a:ext cx="3383280" cy="0"/>
          </a:xfrm>
          <a:prstGeom prst="line">
            <a:avLst/>
          </a:prstGeom>
          <a:noFill/>
          <a:ln w="12700">
            <a:solidFill>
              <a:srgbClr val="45484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360920" y="4480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67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2s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7452360" y="5074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Sleep-based retry delay on payment failure — CPU stays free for other threads.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LAUNDRY FACILITY SIMULATION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C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CODING TECHNIQUE JUSTIFICATION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tool for each job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3F1ED"/>
          </a:solidFill>
          <a:ln w="12700">
            <a:solidFill>
              <a:srgbClr val="E1DE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3520440" cy="777240"/>
          </a:xfrm>
          <a:prstGeom prst="rect">
            <a:avLst/>
          </a:prstGeom>
          <a:solidFill>
            <a:srgbClr val="C6752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Semaphore(n, true)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pool of N identical permits, with a built-in fair queue.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41788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Washers, dryers, kiosks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800600"/>
            <a:ext cx="3063240" cy="0"/>
          </a:xfrm>
          <a:prstGeom prst="line">
            <a:avLst/>
          </a:prstGeom>
          <a:noFill/>
          <a:ln w="12700">
            <a:solidFill>
              <a:srgbClr val="E1DE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9377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for resource pools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16552" y="178308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3F1ED"/>
          </a:solidFill>
          <a:ln w="12700">
            <a:solidFill>
              <a:srgbClr val="E1DE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6552" y="1783080"/>
            <a:ext cx="3520440" cy="777240"/>
          </a:xfrm>
          <a:prstGeom prst="rect">
            <a:avLst/>
          </a:prstGeom>
          <a:solidFill>
            <a:srgbClr val="8B3F3F"/>
          </a:solidFill>
          <a:ln/>
        </p:spPr>
      </p:sp>
      <p:sp>
        <p:nvSpPr>
          <p:cNvPr id="14" name="Text 12"/>
          <p:cNvSpPr/>
          <p:nvPr/>
        </p:nvSpPr>
        <p:spPr>
          <a:xfrm>
            <a:off x="4645152" y="17830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synchronized block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45152" y="27432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mutual exclusion &amp; memory visibility on a single object.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45152" y="3931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45152" y="41788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Machine-index claim &amp; release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45152" y="4800600"/>
            <a:ext cx="3063240" cy="0"/>
          </a:xfrm>
          <a:prstGeom prst="line">
            <a:avLst/>
          </a:prstGeom>
          <a:noFill/>
          <a:ln w="12700">
            <a:solidFill>
              <a:srgbClr val="E1DE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49377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 — needs manual wait/notify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93024" y="178308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3F1ED"/>
          </a:solidFill>
          <a:ln w="12700">
            <a:solidFill>
              <a:srgbClr val="E1DE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1783080"/>
            <a:ext cx="3520440" cy="777240"/>
          </a:xfrm>
          <a:prstGeom prst="rect">
            <a:avLst/>
          </a:prstGeom>
          <a:solidFill>
            <a:srgbClr val="4A6A8A"/>
          </a:solidFill>
          <a:ln/>
        </p:spPr>
      </p:sp>
      <p:sp>
        <p:nvSpPr>
          <p:cNvPr id="22" name="Text 20"/>
          <p:cNvSpPr/>
          <p:nvPr/>
        </p:nvSpPr>
        <p:spPr>
          <a:xfrm>
            <a:off x="8421624" y="17830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ReentrantLock + Condition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421624" y="27432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lock, tryLock, and true condition variables.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21624" y="3931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421624" y="41788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Owner-arrival bonus scenario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421624" y="4800600"/>
            <a:ext cx="3063240" cy="0"/>
          </a:xfrm>
          <a:prstGeom prst="line">
            <a:avLst/>
          </a:prstGeom>
          <a:noFill/>
          <a:ln w="12700">
            <a:solidFill>
              <a:srgbClr val="E1DE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1624" y="49377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where semaphores aren't enough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LAUNDRY FACILITY SIMULATION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6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CODING TECHNIQUE JUSTIFICATION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Lock-free statistics with CAS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SimulationMetrics uses AtomicInteger / AtomicLong so recording a statistic never blocks a customer thread.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Peak-usage counters need a read, a compare, and a write — done lock-free with a compare-and-swap loop.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another thread updates the maximum first, compareAndSet() simply fails and retries with the fresh value — the stored peak can only increase, and always settles correctly.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90895" y="2103120"/>
            <a:ext cx="58521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DED7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90895" y="2103120"/>
            <a:ext cx="5852160" cy="237744"/>
          </a:xfrm>
          <a:prstGeom prst="roundRect">
            <a:avLst>
              <a:gd name="adj" fmla="val 34615"/>
            </a:avLst>
          </a:prstGeom>
          <a:solidFill>
            <a:srgbClr val="EDEBE6"/>
          </a:solidFill>
          <a:ln/>
        </p:spPr>
      </p:sp>
      <p:sp>
        <p:nvSpPr>
          <p:cNvPr id="7" name="Shape 5"/>
          <p:cNvSpPr/>
          <p:nvPr/>
        </p:nvSpPr>
        <p:spPr>
          <a:xfrm>
            <a:off x="5790895" y="2221992"/>
            <a:ext cx="5852160" cy="118872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8" name="Shape 6"/>
          <p:cNvSpPr/>
          <p:nvPr/>
        </p:nvSpPr>
        <p:spPr>
          <a:xfrm>
            <a:off x="5918911" y="2180844"/>
            <a:ext cx="82296" cy="82296"/>
          </a:xfrm>
          <a:prstGeom prst="ellipse">
            <a:avLst/>
          </a:prstGeom>
          <a:solidFill>
            <a:srgbClr val="D96A5C"/>
          </a:solidFill>
          <a:ln/>
        </p:spPr>
      </p:sp>
      <p:sp>
        <p:nvSpPr>
          <p:cNvPr id="9" name="Shape 7"/>
          <p:cNvSpPr/>
          <p:nvPr/>
        </p:nvSpPr>
        <p:spPr>
          <a:xfrm>
            <a:off x="6092647" y="2180844"/>
            <a:ext cx="82296" cy="8229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0" name="Shape 8"/>
          <p:cNvSpPr/>
          <p:nvPr/>
        </p:nvSpPr>
        <p:spPr>
          <a:xfrm>
            <a:off x="6266383" y="2180844"/>
            <a:ext cx="82296" cy="82296"/>
          </a:xfrm>
          <a:prstGeom prst="ellipse">
            <a:avLst/>
          </a:prstGeom>
          <a:solidFill>
            <a:srgbClr val="5FAE6E"/>
          </a:solidFill>
          <a:ln/>
        </p:spPr>
      </p:sp>
      <p:pic>
        <p:nvPicPr>
          <p:cNvPr id="11" name="Image 0" descr="/home/claude/docx_unpacked/word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911" y="2714051"/>
            <a:ext cx="5596128" cy="157071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90895" y="478231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C9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Compare-and-swap retry loop in Washer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LAUNDRY FACILITY SIMULATION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C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CODING TECHNIQUE JUSTIFICATION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 pool &amp; clean shutdown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 customers are submitted to Executors.newFixedThreadPool(50) rather than created as raw Thread objects — the pool offers shutdown() and awaitTermination() for a clean exit.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creates a CountDownLatch(50) and calls await(); each customer calls countDown() in a finally block, so the latch releases even if a customer throws.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alternative — a polling loop like while(served &lt; 50) sleep(100) — wastes CPU and can delay completion by up to one polling period.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19495" y="1828800"/>
            <a:ext cx="56235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ED7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19495" y="1828800"/>
            <a:ext cx="5623560" cy="237744"/>
          </a:xfrm>
          <a:prstGeom prst="roundRect">
            <a:avLst>
              <a:gd name="adj" fmla="val 34615"/>
            </a:avLst>
          </a:prstGeom>
          <a:solidFill>
            <a:srgbClr val="EDEBE6"/>
          </a:solidFill>
          <a:ln/>
        </p:spPr>
      </p:sp>
      <p:sp>
        <p:nvSpPr>
          <p:cNvPr id="7" name="Shape 5"/>
          <p:cNvSpPr/>
          <p:nvPr/>
        </p:nvSpPr>
        <p:spPr>
          <a:xfrm>
            <a:off x="6019495" y="1947672"/>
            <a:ext cx="5623560" cy="118872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8" name="Shape 6"/>
          <p:cNvSpPr/>
          <p:nvPr/>
        </p:nvSpPr>
        <p:spPr>
          <a:xfrm>
            <a:off x="6147511" y="1906524"/>
            <a:ext cx="82296" cy="82296"/>
          </a:xfrm>
          <a:prstGeom prst="ellipse">
            <a:avLst/>
          </a:prstGeom>
          <a:solidFill>
            <a:srgbClr val="D96A5C"/>
          </a:solidFill>
          <a:ln/>
        </p:spPr>
      </p:sp>
      <p:sp>
        <p:nvSpPr>
          <p:cNvPr id="9" name="Shape 7"/>
          <p:cNvSpPr/>
          <p:nvPr/>
        </p:nvSpPr>
        <p:spPr>
          <a:xfrm>
            <a:off x="6321247" y="1906524"/>
            <a:ext cx="82296" cy="8229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0" name="Shape 8"/>
          <p:cNvSpPr/>
          <p:nvPr/>
        </p:nvSpPr>
        <p:spPr>
          <a:xfrm>
            <a:off x="6494983" y="1906524"/>
            <a:ext cx="82296" cy="82296"/>
          </a:xfrm>
          <a:prstGeom prst="ellipse">
            <a:avLst/>
          </a:prstGeom>
          <a:solidFill>
            <a:srgbClr val="5FAE6E"/>
          </a:solidFill>
          <a:ln/>
        </p:spPr>
      </p:sp>
      <p:pic>
        <p:nvPicPr>
          <p:cNvPr id="11" name="Image 0" descr="/home/claude/docx_unpacked/word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693" y="2143354"/>
            <a:ext cx="4695164" cy="2300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19495" y="4645152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Latch creation &amp; await in Main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LAUNDRY FACILITY SIMULATION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6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CODING TECHNIQUE JUSTIFICATION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Thread-safe logging &amp; the EDT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" cy="512064"/>
          </a:xfrm>
          <a:prstGeom prst="ellipse">
            <a:avLst/>
          </a:prstGeom>
          <a:solidFill>
            <a:srgbClr val="C6752A"/>
          </a:solidFill>
          <a:ln/>
        </p:spPr>
      </p:sp>
      <p:pic>
        <p:nvPicPr>
          <p:cNvPr id="5" name="Image 0" descr="/home/claude/assets/icons/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1951695"/>
            <a:ext cx="266273" cy="266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79222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synchronized log() method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61872" y="20848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is timestamped and printed in a single shot, so lines from different threads never interleave.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127248"/>
            <a:ext cx="512064" cy="512064"/>
          </a:xfrm>
          <a:prstGeom prst="ellipse">
            <a:avLst/>
          </a:prstGeom>
          <a:solidFill>
            <a:srgbClr val="8B3F3F"/>
          </a:solidFill>
          <a:ln/>
        </p:spPr>
      </p:sp>
      <p:pic>
        <p:nvPicPr>
          <p:cNvPr id="9" name="Image 1" descr="/home/claude/assets/icons/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75" y="3250143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30906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pattern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61872" y="33832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CopyOnWriteArrayList&lt;Consumer&lt;String&gt;&gt; holds listeners; the GUI registers itself without customer threads knowing Swing exists.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425696"/>
            <a:ext cx="512064" cy="512064"/>
          </a:xfrm>
          <a:prstGeom prst="ellipse">
            <a:avLst/>
          </a:prstGeom>
          <a:solidFill>
            <a:srgbClr val="C6752A"/>
          </a:solidFill>
          <a:ln/>
        </p:spPr>
      </p:sp>
      <p:pic>
        <p:nvPicPr>
          <p:cNvPr id="13" name="Image 2" descr="/home/claude/assets/icons/disp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4548591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43891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Dispatch Thread confinement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61872" y="468172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components are built and updated only via SwingUtilities.invokeLater() — a javax.swing.Timer polls atomics every 500ms on the EDT.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705295" y="2468880"/>
            <a:ext cx="49377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DED7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705295" y="2468880"/>
            <a:ext cx="4937760" cy="237744"/>
          </a:xfrm>
          <a:prstGeom prst="roundRect">
            <a:avLst>
              <a:gd name="adj" fmla="val 34615"/>
            </a:avLst>
          </a:prstGeom>
          <a:solidFill>
            <a:srgbClr val="EDEBE6"/>
          </a:solidFill>
          <a:ln/>
        </p:spPr>
      </p:sp>
      <p:sp>
        <p:nvSpPr>
          <p:cNvPr id="18" name="Shape 13"/>
          <p:cNvSpPr/>
          <p:nvPr/>
        </p:nvSpPr>
        <p:spPr>
          <a:xfrm>
            <a:off x="6705295" y="2587752"/>
            <a:ext cx="4937760" cy="118872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19" name="Shape 14"/>
          <p:cNvSpPr/>
          <p:nvPr/>
        </p:nvSpPr>
        <p:spPr>
          <a:xfrm>
            <a:off x="6833311" y="2546604"/>
            <a:ext cx="82296" cy="82296"/>
          </a:xfrm>
          <a:prstGeom prst="ellipse">
            <a:avLst/>
          </a:prstGeom>
          <a:solidFill>
            <a:srgbClr val="D96A5C"/>
          </a:solidFill>
          <a:ln/>
        </p:spPr>
      </p:sp>
      <p:sp>
        <p:nvSpPr>
          <p:cNvPr id="20" name="Shape 15"/>
          <p:cNvSpPr/>
          <p:nvPr/>
        </p:nvSpPr>
        <p:spPr>
          <a:xfrm>
            <a:off x="7007047" y="2546604"/>
            <a:ext cx="82296" cy="8229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21" name="Shape 16"/>
          <p:cNvSpPr/>
          <p:nvPr/>
        </p:nvSpPr>
        <p:spPr>
          <a:xfrm>
            <a:off x="7180783" y="2546604"/>
            <a:ext cx="82296" cy="82296"/>
          </a:xfrm>
          <a:prstGeom prst="ellipse">
            <a:avLst/>
          </a:prstGeom>
          <a:solidFill>
            <a:srgbClr val="5FAE6E"/>
          </a:solidFill>
          <a:ln/>
        </p:spPr>
      </p:sp>
      <p:pic>
        <p:nvPicPr>
          <p:cNvPr id="22" name="Image 3" descr="/home/claude/docx_unpacked/word/media/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5820" y="2783434"/>
            <a:ext cx="4056710" cy="147767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05295" y="44622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C9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Per-thread tag — no thread logs for another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LAUNDRY FACILITY SIMULATION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C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REQUIREMENTS FULFILMENT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met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C675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REQUIREMENTS — ALL MET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04088" y="2395728"/>
            <a:ext cx="384048" cy="384048"/>
          </a:xfrm>
          <a:prstGeom prst="ellipse">
            <a:avLst/>
          </a:prstGeom>
          <a:solidFill>
            <a:srgbClr val="F3F1ED"/>
          </a:solidFill>
          <a:ln w="19050">
            <a:solidFill>
              <a:srgbClr val="C67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6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3042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arrival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3444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8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tasks, random 0–3,000ms staggered delay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04088" y="3191256"/>
            <a:ext cx="384048" cy="384048"/>
          </a:xfrm>
          <a:prstGeom prst="ellipse">
            <a:avLst/>
          </a:prstGeom>
          <a:solidFill>
            <a:srgbClr val="F3F1ED"/>
          </a:solidFill>
          <a:ln w="19050">
            <a:solidFill>
              <a:srgbClr val="C67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6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099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 stage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34440" y="33558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8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Semaphore(6, true); 4–6s per cycle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04088" y="3986784"/>
            <a:ext cx="384048" cy="384048"/>
          </a:xfrm>
          <a:prstGeom prst="ellipse">
            <a:avLst/>
          </a:prstGeom>
          <a:solidFill>
            <a:srgbClr val="F3F1ED"/>
          </a:solidFill>
          <a:ln w="19050">
            <a:solidFill>
              <a:srgbClr val="C67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6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8953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stage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34440" y="41513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8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Semaphore(4, true); 3–5s per cycle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04088" y="4782312"/>
            <a:ext cx="384048" cy="384048"/>
          </a:xfrm>
          <a:prstGeom prst="ellipse">
            <a:avLst/>
          </a:prstGeom>
          <a:solidFill>
            <a:srgbClr val="F3F1ED"/>
          </a:solidFill>
          <a:ln w="19050">
            <a:solidFill>
              <a:srgbClr val="C67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4764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6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4690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stage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34440" y="49469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8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Semaphore(2, true); 1–2s per cycle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263640" y="1737360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8B3F3F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173736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REQUIREMENTS — ALL MET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27648" y="2395728"/>
            <a:ext cx="384048" cy="384048"/>
          </a:xfrm>
          <a:prstGeom prst="ellipse">
            <a:avLst/>
          </a:prstGeom>
          <a:solidFill>
            <a:srgbClr val="F3F1ED"/>
          </a:solidFill>
          <a:ln w="19050">
            <a:solidFill>
              <a:srgbClr val="8B3F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0" y="23042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5800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8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semaphores + synchronized ID claims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327648" y="3191256"/>
            <a:ext cx="384048" cy="384048"/>
          </a:xfrm>
          <a:prstGeom prst="ellipse">
            <a:avLst/>
          </a:prstGeom>
          <a:solidFill>
            <a:srgbClr val="F3F1ED"/>
          </a:solidFill>
          <a:ln w="19050">
            <a:solidFill>
              <a:srgbClr val="8B3F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58000" y="3099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58000" y="33558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8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washer / 5% kiosk retry via FailureSimulator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327648" y="3986784"/>
            <a:ext cx="384048" cy="384048"/>
          </a:xfrm>
          <a:prstGeom prst="ellipse">
            <a:avLst/>
          </a:prstGeom>
          <a:solidFill>
            <a:srgbClr val="F3F1ED"/>
          </a:solidFill>
          <a:ln w="19050">
            <a:solidFill>
              <a:srgbClr val="8B3F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58000" y="38953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58000" y="41513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8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counters, printed by MetricsReporter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6327648" y="4782312"/>
            <a:ext cx="384048" cy="384048"/>
          </a:xfrm>
          <a:prstGeom prst="ellipse">
            <a:avLst/>
          </a:prstGeom>
          <a:solidFill>
            <a:srgbClr val="F3F1ED"/>
          </a:solidFill>
          <a:ln w="19050">
            <a:solidFill>
              <a:srgbClr val="8B3F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4764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858000" y="4690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visibility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858000" y="49469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8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Thread-tagged logs show simultaneous use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LAUNDRY FACILITY SIMULATION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6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REQUIREMENTS FULFILMENT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dashboard &amp; live results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1605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1DED7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4160520" cy="237744"/>
          </a:xfrm>
          <a:prstGeom prst="roundRect">
            <a:avLst>
              <a:gd name="adj" fmla="val 34615"/>
            </a:avLst>
          </a:prstGeom>
          <a:solidFill>
            <a:srgbClr val="EDEBE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36192"/>
            <a:ext cx="4160520" cy="118872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1495044"/>
            <a:ext cx="82296" cy="82296"/>
          </a:xfrm>
          <a:prstGeom prst="ellipse">
            <a:avLst/>
          </a:prstGeom>
          <a:solidFill>
            <a:srgbClr val="D96A5C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1495044"/>
            <a:ext cx="82296" cy="8229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495044"/>
            <a:ext cx="82296" cy="82296"/>
          </a:xfrm>
          <a:prstGeom prst="ellipse">
            <a:avLst/>
          </a:prstGeom>
          <a:solidFill>
            <a:srgbClr val="5FAE6E"/>
          </a:solidFill>
          <a:ln/>
        </p:spPr>
      </p:sp>
      <p:pic>
        <p:nvPicPr>
          <p:cNvPr id="10" name="Image 0" descr="/home/claude/docx_unpacked/word/media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53623"/>
            <a:ext cx="3904488" cy="28915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546811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C9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Mid-run — washers/dryers in active use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120640" y="1417320"/>
            <a:ext cx="41605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1DED7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20640" y="1417320"/>
            <a:ext cx="4160520" cy="237744"/>
          </a:xfrm>
          <a:prstGeom prst="roundRect">
            <a:avLst>
              <a:gd name="adj" fmla="val 34615"/>
            </a:avLst>
          </a:prstGeom>
          <a:solidFill>
            <a:srgbClr val="EDEBE6"/>
          </a:solidFill>
          <a:ln/>
        </p:spPr>
      </p:sp>
      <p:sp>
        <p:nvSpPr>
          <p:cNvPr id="14" name="Shape 11"/>
          <p:cNvSpPr/>
          <p:nvPr/>
        </p:nvSpPr>
        <p:spPr>
          <a:xfrm>
            <a:off x="5120640" y="1536192"/>
            <a:ext cx="4160520" cy="118872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15" name="Shape 12"/>
          <p:cNvSpPr/>
          <p:nvPr/>
        </p:nvSpPr>
        <p:spPr>
          <a:xfrm>
            <a:off x="5248656" y="1495044"/>
            <a:ext cx="82296" cy="82296"/>
          </a:xfrm>
          <a:prstGeom prst="ellipse">
            <a:avLst/>
          </a:prstGeom>
          <a:solidFill>
            <a:srgbClr val="D96A5C"/>
          </a:solidFill>
          <a:ln/>
        </p:spPr>
      </p:sp>
      <p:sp>
        <p:nvSpPr>
          <p:cNvPr id="16" name="Shape 13"/>
          <p:cNvSpPr/>
          <p:nvPr/>
        </p:nvSpPr>
        <p:spPr>
          <a:xfrm>
            <a:off x="5422392" y="1495044"/>
            <a:ext cx="82296" cy="8229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7" name="Shape 14"/>
          <p:cNvSpPr/>
          <p:nvPr/>
        </p:nvSpPr>
        <p:spPr>
          <a:xfrm>
            <a:off x="5596128" y="1495044"/>
            <a:ext cx="82296" cy="82296"/>
          </a:xfrm>
          <a:prstGeom prst="ellipse">
            <a:avLst/>
          </a:prstGeom>
          <a:solidFill>
            <a:srgbClr val="5FAE6E"/>
          </a:solidFill>
          <a:ln/>
        </p:spPr>
      </p:sp>
      <p:pic>
        <p:nvPicPr>
          <p:cNvPr id="18" name="Image 1" descr="/home/claude/docx_unpacked/word/media/image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656" y="2046072"/>
            <a:ext cx="3904488" cy="290667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20640" y="546811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C9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50/50 served — simulation complete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9601200" y="1417320"/>
            <a:ext cx="2041855" cy="896112"/>
          </a:xfrm>
          <a:prstGeom prst="roundRect">
            <a:avLst>
              <a:gd name="adj" fmla="val 8163"/>
            </a:avLst>
          </a:prstGeom>
          <a:solidFill>
            <a:srgbClr val="34363C"/>
          </a:solidFill>
          <a:ln/>
        </p:spPr>
      </p:sp>
      <p:sp>
        <p:nvSpPr>
          <p:cNvPr id="21" name="Text 17"/>
          <p:cNvSpPr/>
          <p:nvPr/>
        </p:nvSpPr>
        <p:spPr>
          <a:xfrm>
            <a:off x="9784080" y="1472184"/>
            <a:ext cx="1676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7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50/50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9784080" y="1929384"/>
            <a:ext cx="1676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served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9601200" y="2450592"/>
            <a:ext cx="2041855" cy="896112"/>
          </a:xfrm>
          <a:prstGeom prst="roundRect">
            <a:avLst>
              <a:gd name="adj" fmla="val 8163"/>
            </a:avLst>
          </a:prstGeom>
          <a:solidFill>
            <a:srgbClr val="34363C"/>
          </a:solidFill>
          <a:ln/>
        </p:spPr>
      </p:sp>
      <p:sp>
        <p:nvSpPr>
          <p:cNvPr id="24" name="Text 20"/>
          <p:cNvSpPr/>
          <p:nvPr/>
        </p:nvSpPr>
        <p:spPr>
          <a:xfrm>
            <a:off x="9784080" y="2505456"/>
            <a:ext cx="1676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7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11.2s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9784080" y="2962656"/>
            <a:ext cx="1676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turnaround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9601200" y="3483864"/>
            <a:ext cx="2041855" cy="896112"/>
          </a:xfrm>
          <a:prstGeom prst="roundRect">
            <a:avLst>
              <a:gd name="adj" fmla="val 8163"/>
            </a:avLst>
          </a:prstGeom>
          <a:solidFill>
            <a:srgbClr val="34363C"/>
          </a:solidFill>
          <a:ln/>
        </p:spPr>
      </p:sp>
      <p:sp>
        <p:nvSpPr>
          <p:cNvPr id="27" name="Text 23"/>
          <p:cNvSpPr/>
          <p:nvPr/>
        </p:nvSpPr>
        <p:spPr>
          <a:xfrm>
            <a:off x="9784080" y="3538728"/>
            <a:ext cx="1676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7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6/6, 4/4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9784080" y="3995928"/>
            <a:ext cx="1676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concurrency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9601200" y="4517136"/>
            <a:ext cx="2041855" cy="896112"/>
          </a:xfrm>
          <a:prstGeom prst="roundRect">
            <a:avLst>
              <a:gd name="adj" fmla="val 8163"/>
            </a:avLst>
          </a:prstGeom>
          <a:solidFill>
            <a:srgbClr val="34363C"/>
          </a:solidFill>
          <a:ln/>
        </p:spPr>
      </p:sp>
      <p:sp>
        <p:nvSpPr>
          <p:cNvPr id="30" name="Text 26"/>
          <p:cNvSpPr/>
          <p:nvPr/>
        </p:nvSpPr>
        <p:spPr>
          <a:xfrm>
            <a:off x="9784080" y="4572000"/>
            <a:ext cx="1676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7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~87s</a:t>
            </a:r>
            <a:endParaRPr lang="en-US" sz="2200" dirty="0"/>
          </a:p>
        </p:txBody>
      </p:sp>
      <p:sp>
        <p:nvSpPr>
          <p:cNvPr id="31" name="Text 27"/>
          <p:cNvSpPr/>
          <p:nvPr/>
        </p:nvSpPr>
        <p:spPr>
          <a:xfrm>
            <a:off x="9784080" y="5029200"/>
            <a:ext cx="1676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 time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LAUNDRY FACILITY SIMULATION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194560"/>
            <a:ext cx="5486400" cy="5486400"/>
          </a:xfrm>
          <a:prstGeom prst="ellipse">
            <a:avLst/>
          </a:prstGeom>
          <a:solidFill>
            <a:srgbClr val="F3F1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C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verified, deadlock-free simulation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669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autonomous customer threads move through washing, drying, and payment using fair counting semaphores for each resource pool.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synchronized sections allocate machine IDs; lock-free CAS operations record telemetry without ever blocking a customer.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Hold-and-wait is eliminated by releasing each machine before the next is requested — deadlock cannot occur by design.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49440" y="196596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3F1ED"/>
          </a:solidFill>
          <a:ln w="12700">
            <a:solidFill>
              <a:srgbClr val="E1DE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196596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50/50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869680" y="196596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49440" y="2761488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3F1ED"/>
          </a:solidFill>
          <a:ln w="12700">
            <a:solidFill>
              <a:srgbClr val="E1DE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276148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11.2s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0" y="276148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49440" y="3557016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3F1ED"/>
          </a:solidFill>
          <a:ln w="12700">
            <a:solidFill>
              <a:srgbClr val="E1DE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355701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 · 4/4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869680" y="355701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use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49440" y="4352544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3F1ED"/>
          </a:solidFill>
          <a:ln w="12700">
            <a:solidFill>
              <a:srgbClr val="E1DE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435254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~87s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869680" y="435254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E1DE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Rajkarnikar  ·  NP070226  ·  Concurrent Programming CT074-3-2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1511</Words>
  <Application>Microsoft Office PowerPoint</Application>
  <PresentationFormat>Widescreen</PresentationFormat>
  <Paragraphs>236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Lucky Rajkarnikar</cp:lastModifiedBy>
  <cp:revision>1</cp:revision>
  <dcterms:created xsi:type="dcterms:W3CDTF">2026-09-26T07:26:17Z</dcterms:created>
  <dcterms:modified xsi:type="dcterms:W3CDTF">2026-09-26T12:14:55Z</dcterms:modified>
</cp:coreProperties>
</file>